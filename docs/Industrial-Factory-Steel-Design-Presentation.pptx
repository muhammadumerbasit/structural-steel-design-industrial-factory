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84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D EBADULLAH" initials="AE" lastIdx="3" clrIdx="0">
    <p:extLst>
      <p:ext uri="{19B8F6BF-5375-455C-9EA6-DF929625EA0E}">
        <p15:presenceInfo xmlns:p15="http://schemas.microsoft.com/office/powerpoint/2012/main" userId="S::aullah.bece18nice@student.nust.edu.pk::45a57337-331c-469e-8596-f11bf86d61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5F0C-9F9D-47C7-A94C-ACAD2B6A8FB4}" type="datetimeFigureOut">
              <a:rPr lang="en-PK" smtClean="0"/>
              <a:t>05/01/2022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51D14-C51F-44B9-9178-4CBDA5EC157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576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493776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219506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F60-864D-4A95-A2B5-4481450C07A9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123944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00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0AF0-5401-48A2-B119-9A38EE3338C2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DCD72AF4-4C04-4E75-AE65-B06E49E47B05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201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00108-BB1D-4F58-8258-366A89237A95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06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9A6-B1E6-4200-9F92-FA1DAD5242A1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066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F4EB-05CA-4048-B680-C6F935B6EA96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4356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CD4-821A-4B7E-AFF4-B0E6DE56CBA8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59336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101B-6BE6-4B05-B1CE-6C2E4ABE2579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3911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61AB0AC-B8E2-4417-90B9-B5DC489432C0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2088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4ADA4-8C53-485D-AC98-91FCCF32CB11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944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699C-70F7-4D21-827A-061E5F038878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565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64AB-171A-4645-9E24-D02366DA32FF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084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7168257-893B-4C1C-8114-1A05FD9CA506}" type="datetime8">
              <a:rPr lang="en-PK" smtClean="0"/>
              <a:t>05/01/2022 12:25 pm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CD72AF4-4C04-4E75-AE65-B06E49E47B05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48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36453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736F6-7394-4690-AC8A-9B66206C5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686015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STEEL CEP</a:t>
            </a:r>
            <a:endParaRPr lang="en-PK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824B0-80C4-4D0A-BFAB-5696D6322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SCHEME 1</a:t>
            </a:r>
            <a:endParaRPr lang="en-PK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5" descr="A picture containing outdoor, sky, tower, day&#10;&#10;Description automatically generated">
            <a:extLst>
              <a:ext uri="{FF2B5EF4-FFF2-40B4-BE49-F238E27FC236}">
                <a16:creationId xmlns:a16="http://schemas.microsoft.com/office/drawing/2014/main" id="{C80E08C0-E201-4DF0-9C25-BAAE530C70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939" r="26395"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9BE21-C93A-4BDD-BA63-18C52D1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7270" y="6459785"/>
            <a:ext cx="56984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CD72AF4-4C04-4E75-AE65-B06E49E47B05}" type="slidenum">
              <a:rPr lang="en-PK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PK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94D781-AEB2-4702-99AD-89549DE32A36}"/>
              </a:ext>
            </a:extLst>
          </p:cNvPr>
          <p:cNvCxnSpPr>
            <a:cxnSpLocks/>
          </p:cNvCxnSpPr>
          <p:nvPr/>
        </p:nvCxnSpPr>
        <p:spPr>
          <a:xfrm>
            <a:off x="6096000" y="258324"/>
            <a:ext cx="6096000" cy="0"/>
          </a:xfrm>
          <a:prstGeom prst="line">
            <a:avLst/>
          </a:prstGeom>
          <a:ln w="5334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C43430-E967-4EF4-8305-552DEF2BDCA2}"/>
              </a:ext>
            </a:extLst>
          </p:cNvPr>
          <p:cNvCxnSpPr>
            <a:cxnSpLocks/>
          </p:cNvCxnSpPr>
          <p:nvPr/>
        </p:nvCxnSpPr>
        <p:spPr>
          <a:xfrm>
            <a:off x="6096000" y="6598164"/>
            <a:ext cx="6096000" cy="0"/>
          </a:xfrm>
          <a:prstGeom prst="line">
            <a:avLst/>
          </a:prstGeom>
          <a:ln w="5334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99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64B7-76CA-4C6A-AAF5-BF3A3AE1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C4F14-65AD-42BA-98E6-136F41C6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Adnan Haider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Ahmad Shah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Ahmed Ebadullah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Ahmer</a:t>
            </a:r>
            <a:r>
              <a:rPr lang="en-US" sz="2400" dirty="0"/>
              <a:t> Naseer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Alamzaib</a:t>
            </a:r>
            <a:r>
              <a:rPr lang="en-US" sz="2400" dirty="0"/>
              <a:t> Qureshi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Ali Ahmed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Ameer Hamza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Ammar Akhtar </a:t>
            </a:r>
            <a:r>
              <a:rPr lang="en-US" sz="2400" dirty="0" err="1"/>
              <a:t>Goraya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Fahad Nasir Mughal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Haider Taseer Khan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Hammas</a:t>
            </a:r>
            <a:r>
              <a:rPr lang="en-US" sz="2400" dirty="0"/>
              <a:t> Zubair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Husnain</a:t>
            </a:r>
            <a:r>
              <a:rPr lang="en-US" sz="2400" dirty="0"/>
              <a:t> Kabir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Hassan Ahmad Khan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Irtaza</a:t>
            </a:r>
            <a:r>
              <a:rPr lang="en-US" sz="2400" dirty="0"/>
              <a:t> </a:t>
            </a:r>
            <a:r>
              <a:rPr lang="en-US" sz="2400" dirty="0" err="1"/>
              <a:t>Badar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Khizer</a:t>
            </a:r>
            <a:r>
              <a:rPr lang="en-US" sz="2400" dirty="0"/>
              <a:t> </a:t>
            </a:r>
            <a:r>
              <a:rPr lang="en-US" sz="2400" dirty="0" err="1"/>
              <a:t>Aamer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Mukarim</a:t>
            </a:r>
            <a:r>
              <a:rPr lang="en-US" sz="2400" dirty="0"/>
              <a:t> Ali Syed</a:t>
            </a:r>
            <a:endParaRPr lang="en-PK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CDCA6-7724-414C-8749-D8C064E1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87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2646-B3AC-42EE-87F7-D5B3B0A7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BD2E4-9E7F-40D4-9EA4-BA0A54C3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3</a:t>
            </a:fld>
            <a:endParaRPr lang="en-PK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94BEAE2-A3AB-4C0C-8071-D804110B2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307108"/>
              </p:ext>
            </p:extLst>
          </p:nvPr>
        </p:nvGraphicFramePr>
        <p:xfrm>
          <a:off x="4190675" y="1912706"/>
          <a:ext cx="3871610" cy="4146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97879">
                  <a:extLst>
                    <a:ext uri="{9D8B030D-6E8A-4147-A177-3AD203B41FA5}">
                      <a16:colId xmlns:a16="http://schemas.microsoft.com/office/drawing/2014/main" val="898767574"/>
                    </a:ext>
                  </a:extLst>
                </a:gridCol>
                <a:gridCol w="973731">
                  <a:extLst>
                    <a:ext uri="{9D8B030D-6E8A-4147-A177-3AD203B41FA5}">
                      <a16:colId xmlns:a16="http://schemas.microsoft.com/office/drawing/2014/main" val="2490047082"/>
                    </a:ext>
                  </a:extLst>
                </a:gridCol>
              </a:tblGrid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Problem Statement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46579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Initial Thoughts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561028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Assumptions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989961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420363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Client Requirements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64723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Loads &amp; Combinations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32253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Plans &amp; Sections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913655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Scheme Sketches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10882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Modelling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276513"/>
                  </a:ext>
                </a:extLst>
              </a:tr>
              <a:tr h="414628">
                <a:tc>
                  <a:txBody>
                    <a:bodyPr/>
                    <a:lstStyle/>
                    <a:p>
                      <a:r>
                        <a:rPr lang="en-US" dirty="0"/>
                        <a:t>Recommendations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76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20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2646-B3AC-42EE-87F7-D5B3B0A7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8C8D-8526-487E-9848-37AE1E84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A multi-national polythene manufacturer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’s 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factory</a:t>
            </a:r>
            <a:endParaRPr lang="en-US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F</a:t>
            </a:r>
            <a:r>
              <a:rPr lang="en-PK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actory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to be 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clad with profiled steel sheet sandwich panels</a:t>
            </a:r>
            <a:endParaRPr lang="en-US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50% roof lighting</a:t>
            </a:r>
            <a:endParaRPr lang="en-US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S</a:t>
            </a:r>
            <a:r>
              <a:rPr lang="en-PK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everal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checks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such as secondary bending and local buckling of the truss member walls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omitted.</a:t>
            </a:r>
            <a:endParaRPr lang="en-US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A 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design appraisal 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need to be prepared with: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A</a:t>
            </a:r>
            <a:r>
              <a:rPr lang="en-PK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ppropriate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sketches </a:t>
            </a:r>
            <a:endParaRPr lang="en-US" sz="1800" dirty="0"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F</a:t>
            </a:r>
            <a:r>
              <a:rPr lang="en-PK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unctional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framing</a:t>
            </a:r>
            <a:endParaRPr lang="en-US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L</a:t>
            </a:r>
            <a:r>
              <a:rPr lang="en-PK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oad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transfer</a:t>
            </a:r>
            <a:endParaRPr lang="en-US" sz="1800" dirty="0"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S</a:t>
            </a:r>
            <a:r>
              <a:rPr lang="en-PK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erviceability</a:t>
            </a:r>
            <a:endParaRPr lang="en-US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S</a:t>
            </a:r>
            <a:r>
              <a:rPr lang="en-PK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tability</a:t>
            </a:r>
            <a:r>
              <a:rPr lang="en-PK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aspects</a:t>
            </a:r>
            <a:endParaRPr lang="en-PK" sz="16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PK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A8863-9DEE-40F6-AD84-E50023F3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004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2646-B3AC-42EE-87F7-D5B3B0A7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Thoughts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8C8D-8526-487E-9848-37AE1E84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3 available schemes to complete this task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We are using Scheme 1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Consists of: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1 central column,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Primary &amp; secondary trusses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L</a:t>
            </a: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ateral &amp; elevation bracing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Modelling done in SAP 2000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Checked for deformations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A8863-9DEE-40F6-AD84-E50023F3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245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2646-B3AC-42EE-87F7-D5B3B0A7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8C8D-8526-487E-9848-37AE1E84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following assumptions have been made for ease of modelling:</a:t>
            </a:r>
          </a:p>
          <a:p>
            <a:pPr marL="635508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The ground is level across site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635508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Access for all types of vehicles is adequate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635508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Site has sufficient storage place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635508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Existing buildings are far away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635508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Ground conditions are constant across the site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635508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Bracing is allowed on external elevations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635508" lvl="1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Bracing is allowed on roof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A8863-9DEE-40F6-AD84-E50023F3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t>6</a:t>
            </a:fld>
            <a:endParaRPr lang="en-PK"/>
          </a:p>
        </p:txBody>
      </p:sp>
      <p:pic>
        <p:nvPicPr>
          <p:cNvPr id="6146" name="Picture 2" descr="How Bracing Plans Ensure the Structural Fitness of a Building | by Kuldeep  Bwail | Medium">
            <a:extLst>
              <a:ext uri="{FF2B5EF4-FFF2-40B4-BE49-F238E27FC236}">
                <a16:creationId xmlns:a16="http://schemas.microsoft.com/office/drawing/2014/main" id="{0456E68A-7D9A-41FA-9B78-2E1D306A1E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59"/>
          <a:stretch/>
        </p:blipFill>
        <p:spPr bwMode="auto">
          <a:xfrm>
            <a:off x="6266281" y="2909542"/>
            <a:ext cx="5416638" cy="221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2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8C07-FBC7-4A63-9C0F-B263D92A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F5C8-F721-4223-9442-35D86DC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The structure contains 2 systems: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Gravity System which consists of: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Primary Truss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Secondary Truss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Central Column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Edge Columns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Lateral System which consists of: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Lateral Roof Bracing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Elevation Bracing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Additional cladding on all sides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30098-98B9-4B9C-AF2B-BB6292D1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7</a:t>
            </a:fld>
            <a:endParaRPr lang="en-PK" dirty="0"/>
          </a:p>
        </p:txBody>
      </p:sp>
      <p:pic>
        <p:nvPicPr>
          <p:cNvPr id="2050" name="Picture 2" descr="Pin on brace">
            <a:extLst>
              <a:ext uri="{FF2B5EF4-FFF2-40B4-BE49-F238E27FC236}">
                <a16:creationId xmlns:a16="http://schemas.microsoft.com/office/drawing/2014/main" id="{3848A509-BF50-4729-B022-D37BD251A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385" y="1845734"/>
            <a:ext cx="5969295" cy="363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8C07-FBC7-4A63-9C0F-B263D92A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Requirements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F5C8-F721-4223-9442-35D86DC7B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764258" cy="402336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200 ft. square, single storey factory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Only one central column allowed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One large sliding door opening 16ft. high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Minimum clearance inside the building of 20.ft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Structure has no windows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PK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30098-98B9-4B9C-AF2B-BB6292D1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8</a:t>
            </a:fld>
            <a:endParaRPr lang="en-PK" dirty="0"/>
          </a:p>
        </p:txBody>
      </p:sp>
      <p:pic>
        <p:nvPicPr>
          <p:cNvPr id="1026" name="Picture 2" descr="Highly Profitable Steel &amp;amp; Metal Fabricator Meeting Wide Array of Client  Needs for sale in Eastern Pennsylvania">
            <a:extLst>
              <a:ext uri="{FF2B5EF4-FFF2-40B4-BE49-F238E27FC236}">
                <a16:creationId xmlns:a16="http://schemas.microsoft.com/office/drawing/2014/main" id="{3A5A7A06-68AC-4AFD-B168-4941EF72B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1845734"/>
            <a:ext cx="4932811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10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8C07-FBC7-4A63-9C0F-B263D92A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F5C8-F721-4223-9442-35D86DC7B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136" y="1845734"/>
            <a:ext cx="3620635" cy="4023360"/>
          </a:xfrm>
        </p:spPr>
        <p:txBody>
          <a:bodyPr>
            <a:normAutofit fontScale="92500" lnSpcReduction="20000"/>
          </a:bodyPr>
          <a:lstStyle/>
          <a:p>
            <a:pPr marL="342900" lvl="0" indent="-342900" algn="just" rtl="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1800" u="sng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Live load (L.L):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Roof snow load: 0.75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kN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/m</a:t>
            </a:r>
            <a:r>
              <a:rPr lang="en-US" sz="1800" baseline="300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2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Factory roof services: 0.65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kN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/m</a:t>
            </a:r>
            <a:r>
              <a:rPr lang="en-US" sz="1800" baseline="300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2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1800" u="sng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Dead load (D.L):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Cladding load: 0.30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kN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/m</a:t>
            </a:r>
            <a:r>
              <a:rPr lang="en-US" sz="1800" baseline="300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2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Steel load: 0.20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kN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/m</a:t>
            </a:r>
            <a:r>
              <a:rPr lang="en-US" sz="1800" baseline="300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2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1800" u="sng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Wind load (W.L):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Wind load: 2.0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kN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/m</a:t>
            </a:r>
            <a:r>
              <a:rPr lang="en-US" sz="1800" baseline="300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2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endParaRPr lang="en-PK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30098-98B9-4B9C-AF2B-BB6292D1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9</a:t>
            </a:fld>
            <a:endParaRPr lang="en-PK" dirty="0"/>
          </a:p>
        </p:txBody>
      </p:sp>
      <p:pic>
        <p:nvPicPr>
          <p:cNvPr id="3076" name="Picture 4" descr="Loads | American Institute of Steel Construction">
            <a:extLst>
              <a:ext uri="{FF2B5EF4-FFF2-40B4-BE49-F238E27FC236}">
                <a16:creationId xmlns:a16="http://schemas.microsoft.com/office/drawing/2014/main" id="{A05D251C-C96F-41D5-9475-FB56790FD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16"/>
          <a:stretch/>
        </p:blipFill>
        <p:spPr bwMode="auto">
          <a:xfrm>
            <a:off x="6396477" y="1845734"/>
            <a:ext cx="2852228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91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8C07-FBC7-4A63-9C0F-B263D92A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Load Combination: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F5C8-F721-4223-9442-35D86DC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1.2 D.L + 1.6 L.L (we will use this combination)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1.4 D.L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0.9 D.L + 1.0 W.L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1.0 D.L + 1.0 L.L (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F</a:t>
            </a:r>
            <a:r>
              <a:rPr lang="en-US" sz="1800" baseline="300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n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30098-98B9-4B9C-AF2B-BB6292D1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10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62696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8C07-FBC7-4A63-9C0F-B263D92A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Calculations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F5C8-F721-4223-9442-35D86DC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algn="l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L.L = (0.75+0.65) x 21 = 29.4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Psf</a:t>
            </a:r>
            <a:endParaRPr lang="en-US" sz="1800" dirty="0"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l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D.L = (0.30+0.20) x 21 = 10.5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Psf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l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W.L = 2.0 x 21 = 42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Psf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Factored Load = 1.2 D.L + 1.6 L.L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		    = 1.2 (10.5) + 1.6 (29.4)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		    = 59.64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Psf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≈ </a:t>
            </a:r>
            <a:r>
              <a:rPr lang="en-US" sz="1800" b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60.0 </a:t>
            </a:r>
            <a:r>
              <a:rPr lang="en-US" sz="1800" b="1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Psf</a:t>
            </a:r>
            <a:endParaRPr lang="en-PK" sz="18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PK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30098-98B9-4B9C-AF2B-BB6292D1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11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4478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B8C1-5408-4412-908A-FE7CA2D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View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12</a:t>
            </a:fld>
            <a:endParaRPr lang="en-PK" dirty="0"/>
          </a:p>
        </p:txBody>
      </p:sp>
      <p:pic>
        <p:nvPicPr>
          <p:cNvPr id="5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8108A556-7ED0-49F5-B9BC-93A20916B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98" t="1721" r="9711" b="3419"/>
          <a:stretch/>
        </p:blipFill>
        <p:spPr bwMode="auto">
          <a:xfrm>
            <a:off x="4096163" y="1902192"/>
            <a:ext cx="4059999" cy="39108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74471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rimary Truss">
            <a:extLst>
              <a:ext uri="{FF2B5EF4-FFF2-40B4-BE49-F238E27FC236}">
                <a16:creationId xmlns:a16="http://schemas.microsoft.com/office/drawing/2014/main" id="{6CDEB8C1-5408-4412-908A-FE7CA2D043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</a:t>
            </a:r>
            <a:endParaRPr lang="en-PK" dirty="0"/>
          </a:p>
        </p:txBody>
      </p:sp>
      <p:sp>
        <p:nvSpPr>
          <p:cNvPr id="3" name="Content Placeholder 2" descr="Primary Truss">
            <a:extLst>
              <a:ext uri="{FF2B5EF4-FFF2-40B4-BE49-F238E27FC236}">
                <a16:creationId xmlns:a16="http://schemas.microsoft.com/office/drawing/2014/main" id="{CAFCEBC3-AAEF-45F4-8CBD-B5483CB178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Primary Truss</a:t>
            </a:r>
            <a:endParaRPr lang="en-PK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 descr="Primary Truss">
            <a:extLst>
              <a:ext uri="{FF2B5EF4-FFF2-40B4-BE49-F238E27FC236}">
                <a16:creationId xmlns:a16="http://schemas.microsoft.com/office/drawing/2014/main" id="{35D85BC7-F056-43CF-B106-90274A3E1B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13</a:t>
            </a:fld>
            <a:endParaRPr lang="en-PK" dirty="0"/>
          </a:p>
        </p:txBody>
      </p:sp>
      <p:pic>
        <p:nvPicPr>
          <p:cNvPr id="5" name="Picture 4" descr="Primary Truss">
            <a:extLst>
              <a:ext uri="{FF2B5EF4-FFF2-40B4-BE49-F238E27FC236}">
                <a16:creationId xmlns:a16="http://schemas.microsoft.com/office/drawing/2014/main" id="{535122CF-A414-4237-9575-E0CA221D25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58" t="2406" r="11082" b="3365"/>
          <a:stretch/>
        </p:blipFill>
        <p:spPr bwMode="auto">
          <a:xfrm rot="16200000">
            <a:off x="5416418" y="2771"/>
            <a:ext cx="2115625" cy="68524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21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rimary Truss">
            <a:extLst>
              <a:ext uri="{FF2B5EF4-FFF2-40B4-BE49-F238E27FC236}">
                <a16:creationId xmlns:a16="http://schemas.microsoft.com/office/drawing/2014/main" id="{6CDEB8C1-5408-4412-908A-FE7CA2D043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</a:t>
            </a:r>
            <a:endParaRPr lang="en-PK" dirty="0"/>
          </a:p>
        </p:txBody>
      </p:sp>
      <p:sp>
        <p:nvSpPr>
          <p:cNvPr id="3" name="Content Placeholder 2" descr="Primary Truss">
            <a:extLst>
              <a:ext uri="{FF2B5EF4-FFF2-40B4-BE49-F238E27FC236}">
                <a16:creationId xmlns:a16="http://schemas.microsoft.com/office/drawing/2014/main" id="{CAFCEBC3-AAEF-45F4-8CBD-B5483CB178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Secondary Truss</a:t>
            </a:r>
            <a:endParaRPr lang="en-PK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 descr="Primary Truss">
            <a:extLst>
              <a:ext uri="{FF2B5EF4-FFF2-40B4-BE49-F238E27FC236}">
                <a16:creationId xmlns:a16="http://schemas.microsoft.com/office/drawing/2014/main" id="{35D85BC7-F056-43CF-B106-90274A3E1B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14</a:t>
            </a:fld>
            <a:endParaRPr lang="en-PK" dirty="0"/>
          </a:p>
        </p:txBody>
      </p:sp>
      <p:pic>
        <p:nvPicPr>
          <p:cNvPr id="6" name="Picture 5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7BAA045E-547A-4ECA-92E4-9EA45F5BE8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74" t="7204" r="3456" b="9992"/>
          <a:stretch/>
        </p:blipFill>
        <p:spPr bwMode="auto">
          <a:xfrm>
            <a:off x="2963942" y="2399323"/>
            <a:ext cx="6936516" cy="20085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0256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B8C1-5408-4412-908A-FE7CA2D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Path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15</a:t>
            </a:fld>
            <a:endParaRPr lang="en-PK" dirty="0"/>
          </a:p>
        </p:txBody>
      </p:sp>
      <p:pic>
        <p:nvPicPr>
          <p:cNvPr id="5" name="Content Placeholder 4" descr="A picture containing engineering drawing&#10;&#10;Description automatically generated">
            <a:extLst>
              <a:ext uri="{FF2B5EF4-FFF2-40B4-BE49-F238E27FC236}">
                <a16:creationId xmlns:a16="http://schemas.microsoft.com/office/drawing/2014/main" id="{0B9C13BF-49ED-4559-9AD8-6F8A72216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592" r="3528" b="3525"/>
          <a:stretch/>
        </p:blipFill>
        <p:spPr bwMode="auto">
          <a:xfrm>
            <a:off x="2629876" y="2162622"/>
            <a:ext cx="6932247" cy="35776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0832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B8C1-5408-4412-908A-FE7CA2D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view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16</a:t>
            </a:fld>
            <a:endParaRPr lang="en-PK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2D7933D-EF6F-47F5-835B-07AE676A1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3227" t="2791" r="2580" b="3990"/>
          <a:stretch/>
        </p:blipFill>
        <p:spPr bwMode="auto">
          <a:xfrm>
            <a:off x="4681213" y="1858272"/>
            <a:ext cx="5219245" cy="4480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9CF37A-88DF-4E29-8638-AECD8392E02B}"/>
              </a:ext>
            </a:extLst>
          </p:cNvPr>
          <p:cNvSpPr txBox="1"/>
          <p:nvPr/>
        </p:nvSpPr>
        <p:spPr>
          <a:xfrm>
            <a:off x="1097280" y="3244334"/>
            <a:ext cx="2224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n w="0"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L</a:t>
            </a:r>
            <a:r>
              <a:rPr lang="en-PK" sz="1800" dirty="0" err="1">
                <a:ln w="0"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ateral</a:t>
            </a:r>
            <a:r>
              <a:rPr lang="en-PK" sz="1800" dirty="0">
                <a:ln w="0"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system</a:t>
            </a:r>
            <a:endParaRPr lang="en-PK" dirty="0">
              <a:ln w="0"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5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B8C1-5408-4412-908A-FE7CA2D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Scheme Design 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17</a:t>
            </a:fld>
            <a:endParaRPr lang="en-PK" dirty="0"/>
          </a:p>
        </p:txBody>
      </p:sp>
      <p:pic>
        <p:nvPicPr>
          <p:cNvPr id="7" name="Content Placeholder 6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2E85E14-6FF4-4718-8135-7F23E54B6A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51677" y="2021367"/>
            <a:ext cx="4209828" cy="4022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 descr="Diagram, engineering drawing&#10;&#10;Description automatically generated">
            <a:extLst>
              <a:ext uri="{FF2B5EF4-FFF2-40B4-BE49-F238E27FC236}">
                <a16:creationId xmlns:a16="http://schemas.microsoft.com/office/drawing/2014/main" id="{23C105C0-5873-421D-9013-0342EC606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35" t="4283" r="5027" b="2614"/>
          <a:stretch/>
        </p:blipFill>
        <p:spPr bwMode="auto">
          <a:xfrm>
            <a:off x="6208192" y="2020839"/>
            <a:ext cx="4937760" cy="40232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70392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B8C1-5408-4412-908A-FE7CA2D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Model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18</a:t>
            </a:fld>
            <a:endParaRPr lang="en-PK" dirty="0"/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24343981-0A44-4ECC-9891-0F2CE015FD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43598" t="21539" r="3987" b="10493"/>
          <a:stretch/>
        </p:blipFill>
        <p:spPr bwMode="auto">
          <a:xfrm>
            <a:off x="1096963" y="2139841"/>
            <a:ext cx="4938712" cy="34355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7C9F195A-E851-4C3A-AFA7-6CC7D4B6E3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43491" t="26113" r="3851" b="14209"/>
          <a:stretch/>
        </p:blipFill>
        <p:spPr bwMode="auto">
          <a:xfrm>
            <a:off x="6218238" y="2356801"/>
            <a:ext cx="4937125" cy="30016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2261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B8C1-5408-4412-908A-FE7CA2D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CEBC3-AAEF-45F4-8CBD-B5483CB17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advantages of using Scheme 1 are as follows: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Central Column will reduce internal loads and moments on structure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Less chances of deflection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Less steel involved as less dead load of structure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Less load running into foundation, as load is well distributed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19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59365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B8C1-5408-4412-908A-FE7CA2D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CEBC3-AAEF-45F4-8CBD-B5483CB17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dis-advantages of using Scheme 1 are as follows: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Central Column takes up space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lvl="1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Lots of primary connections – dangerous in case of seismic activity</a:t>
            </a:r>
            <a:endParaRPr lang="en-PK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PK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20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96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5BC7-F056-43CF-B106-90274A3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21</a:t>
            </a:fld>
            <a:endParaRPr lang="en-PK" dirty="0"/>
          </a:p>
        </p:txBody>
      </p:sp>
      <p:pic>
        <p:nvPicPr>
          <p:cNvPr id="4098" name="Picture 2" descr="QUESTIONS? letters icon Stock Vector | Adobe Stock">
            <a:extLst>
              <a:ext uri="{FF2B5EF4-FFF2-40B4-BE49-F238E27FC236}">
                <a16:creationId xmlns:a16="http://schemas.microsoft.com/office/drawing/2014/main" id="{1666C9B6-9D94-49DF-A1C2-19A8D2294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74" y="1520090"/>
            <a:ext cx="10180852" cy="381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550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44D94-3799-44B8-A11A-EDC3DE71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AF4-4C04-4E75-AE65-B06E49E47B05}" type="slidenum">
              <a:rPr lang="en-PK" smtClean="0"/>
              <a:pPr/>
              <a:t>22</a:t>
            </a:fld>
            <a:endParaRPr lang="en-PK" dirty="0"/>
          </a:p>
        </p:txBody>
      </p:sp>
      <p:pic>
        <p:nvPicPr>
          <p:cNvPr id="5124" name="Picture 4" descr="Thank You Images, Stock Photos &amp;amp; Vectors | Shutterstock">
            <a:extLst>
              <a:ext uri="{FF2B5EF4-FFF2-40B4-BE49-F238E27FC236}">
                <a16:creationId xmlns:a16="http://schemas.microsoft.com/office/drawing/2014/main" id="{73C2836F-8A24-4874-A308-402BAF1AD9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88"/>
          <a:stretch/>
        </p:blipFill>
        <p:spPr bwMode="auto">
          <a:xfrm>
            <a:off x="1515818" y="1572352"/>
            <a:ext cx="9160363" cy="298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0774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216</TotalTime>
  <Words>637</Words>
  <Application>Microsoft Office PowerPoint</Application>
  <PresentationFormat>Widescreen</PresentationFormat>
  <Paragraphs>155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Retrospect</vt:lpstr>
      <vt:lpstr>STEEL CEP</vt:lpstr>
      <vt:lpstr>Group Members</vt:lpstr>
      <vt:lpstr>Contents</vt:lpstr>
      <vt:lpstr>Problem Statement</vt:lpstr>
      <vt:lpstr>Initial Thoughts</vt:lpstr>
      <vt:lpstr>Assumptions</vt:lpstr>
      <vt:lpstr>Introduction</vt:lpstr>
      <vt:lpstr>Client Requirements</vt:lpstr>
      <vt:lpstr>Loads</vt:lpstr>
      <vt:lpstr>Load Combination:</vt:lpstr>
      <vt:lpstr>Load Calculations</vt:lpstr>
      <vt:lpstr>Plan View</vt:lpstr>
      <vt:lpstr>Sections</vt:lpstr>
      <vt:lpstr>Sections</vt:lpstr>
      <vt:lpstr>Load Path</vt:lpstr>
      <vt:lpstr>3D view</vt:lpstr>
      <vt:lpstr>Scheme Design </vt:lpstr>
      <vt:lpstr>Software Model</vt:lpstr>
      <vt:lpstr>Recommendations</vt:lpstr>
      <vt:lpstr>Contd.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 CEP</dc:title>
  <dc:creator>HAIDER TASEER KHAN</dc:creator>
  <cp:lastModifiedBy>HAIDER TASEER KHAN</cp:lastModifiedBy>
  <cp:revision>72</cp:revision>
  <dcterms:created xsi:type="dcterms:W3CDTF">2022-01-04T10:37:08Z</dcterms:created>
  <dcterms:modified xsi:type="dcterms:W3CDTF">2022-01-05T07:46:56Z</dcterms:modified>
</cp:coreProperties>
</file>